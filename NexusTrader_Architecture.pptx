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54864" cy="3931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315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NexusTrader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85800" y="162763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Autonomous Crypto Trading System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85800" y="2231136"/>
            <a:ext cx="731520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35915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Symbols  •  12 Regime States  •  23 Intelligence Agents  •  8 Signal Models  •  8-Layer Pipeline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Demo Trading  •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•  March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080E1C"/>
          </a:solidFill>
          <a:ln w="12700">
            <a:solidFill>
              <a:srgbClr val="080E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Architecture Overview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NexusTrader?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35024"/>
            <a:ext cx="84124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5029200" cy="60350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64008" cy="6035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508760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8-layer signal pipeline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174650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 → regime → 5 active models → confluence scoring → 7-gate risk filter → position sizing → paper execution → adaptive learning. Zero manual intervention required.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157984"/>
            <a:ext cx="5029200" cy="60350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57984"/>
            <a:ext cx="64008" cy="6035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203704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parallel intelligence agents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4414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agents stream funding rates, open interest, order book depth, liquidation cascades, news sentiment (FinBERT GPU), whale flows, stablecoin supply, volatility surface, and 15 more feeds in real time.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852928"/>
            <a:ext cx="5029200" cy="60350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52928"/>
            <a:ext cx="64008" cy="6035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898648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adaptive weight learning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31363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system: L1 tracks per-model rolling win rate. L2 tracks per (model × regime × asset) performance. Weights update after every trade close — the system improves continuously.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547872"/>
            <a:ext cx="5029200" cy="60350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547872"/>
            <a:ext cx="64008" cy="6035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59359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7-component crash defense protocol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383133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crash scorer (0–10) with 4 response tiers. EMERGENCY tier halts all trading and closes positions. Integrated as Gate 7 in the risk filter.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760720" y="1463040"/>
            <a:ext cx="1920240" cy="9875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60720" y="1463040"/>
            <a:ext cx="192024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155448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5760720" y="202996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Models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60720" y="223113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active + 3 disabled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760720" y="2542032"/>
            <a:ext cx="1920240" cy="9875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60720" y="2542032"/>
            <a:ext cx="1920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263347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5760720" y="310896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760720" y="331012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ETH SOL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XRP BNB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760720" y="3621024"/>
            <a:ext cx="1920240" cy="9875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60720" y="3621024"/>
            <a:ext cx="1920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371246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1,611</a:t>
            </a:r>
            <a:endParaRPr lang="en-US" sz="2700" dirty="0"/>
          </a:p>
        </p:txBody>
      </p:sp>
      <p:sp>
        <p:nvSpPr>
          <p:cNvPr id="35" name="Text 33"/>
          <p:cNvSpPr/>
          <p:nvPr/>
        </p:nvSpPr>
        <p:spPr>
          <a:xfrm>
            <a:off x="5760720" y="418795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60720" y="43891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— 0 failures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(unit+integration)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52628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TRACK 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NexusTrader replaces manual chart-reading with a structured pipeline. Every trade is the output of multiple AI layers agreeing simultaneously on direction, regime, risk, and expected value. We are currently in Phase 1 demo trading — paper money, real market data, real signal logic, real evaluation.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8-Layer Signal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87552"/>
            <a:ext cx="950976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87552"/>
            <a:ext cx="950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225296" y="1252728"/>
            <a:ext cx="91440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35024" y="987552"/>
            <a:ext cx="950976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5024" y="987552"/>
            <a:ext cx="950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86000" y="1252728"/>
            <a:ext cx="91440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987552"/>
            <a:ext cx="950976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95728" y="987552"/>
            <a:ext cx="950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46704" y="1252728"/>
            <a:ext cx="91440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56432" y="987552"/>
            <a:ext cx="950976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56432" y="987552"/>
            <a:ext cx="950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407408" y="1252728"/>
            <a:ext cx="91440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17136" y="987552"/>
            <a:ext cx="950976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17136" y="987552"/>
            <a:ext cx="950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68112" y="1252728"/>
            <a:ext cx="91440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987552"/>
            <a:ext cx="950976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987552"/>
            <a:ext cx="950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528816" y="1252728"/>
            <a:ext cx="91440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38544" y="987552"/>
            <a:ext cx="950976" cy="6400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38544" y="987552"/>
            <a:ext cx="950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589520" y="1252728"/>
            <a:ext cx="91440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99248" y="987552"/>
            <a:ext cx="950976" cy="6400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99248" y="987552"/>
            <a:ext cx="950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1865376"/>
            <a:ext cx="850392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1901952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  ADAPTIVE FEEDBACK LOOP — L1 + L2 online weight updates after every trade close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2212848"/>
            <a:ext cx="16002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21284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920240" y="2212848"/>
            <a:ext cx="201168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65960" y="22128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977640" y="2212848"/>
            <a:ext cx="196596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0" y="221284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989320" y="2212848"/>
            <a:ext cx="2752344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0" y="2212848"/>
            <a:ext cx="2660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2505456"/>
            <a:ext cx="846734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250545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965960" y="250545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Bybit REST (1h 300 bars)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023360" y="250545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ccxt 4.5, 23 agents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035040" y="2505456"/>
            <a:ext cx="2660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OHLCV + funding + OI + news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74320" y="2752344"/>
            <a:ext cx="8467344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275234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965960" y="27523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+ vol + ADX + RSI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023360" y="275234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(diag) + 12-state rules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035040" y="2752344"/>
            <a:ext cx="2660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12 regime labels + confidence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74320" y="2999232"/>
            <a:ext cx="846734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299923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965960" y="29992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OHLCV + regime + agents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023360" y="299923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ADX, RSI, VWAP, order book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035040" y="2999232"/>
            <a:ext cx="2660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ModelSignal: direction + strength + stop/target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74320" y="3246120"/>
            <a:ext cx="8467344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324612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965960" y="32461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 signals + regime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023360" y="324612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REGIME_AFFINITY matrix, L1/L2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035040" y="3246120"/>
            <a:ext cx="2660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score 0–1 + direction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74320" y="3493008"/>
            <a:ext cx="846734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" y="349300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Gate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965960" y="34930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MTF + heat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023360" y="349300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gate, Kelly floor, R:R≥1.0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035040" y="3493008"/>
            <a:ext cx="2660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+ adjusted params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74320" y="3739896"/>
            <a:ext cx="8467344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040" y="373989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Sizer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1965960" y="37398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+ risk%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023360" y="373989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Quarter-Kelly, 4% hard cap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035040" y="3739896"/>
            <a:ext cx="2660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in USDT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74320" y="3986784"/>
            <a:ext cx="846734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0040" y="398678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1965960" y="398678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params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023360" y="398678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queued signals (thread-safe)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035040" y="3986784"/>
            <a:ext cx="2660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fill + DB record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274320" y="4233672"/>
            <a:ext cx="8467344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20040" y="423367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1965960" y="42336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outcomes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4023360" y="423367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Bayesian, 3-tier activation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035040" y="4233672"/>
            <a:ext cx="2660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L1+L2 model weights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74320" y="452628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TRACK 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flows strictly left to right — 8 layers, each a decision filter. Every component has a single responsibility. The adaptive feedback arrow at the top closes the loop: the system's own trade history adjusts weights for future trades. Nothing is hardcoded — everything adapts.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 &amp; 23 Intelligence Agents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07008"/>
            <a:ext cx="41148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07008"/>
            <a:ext cx="54864" cy="67665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26187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Bybit REST API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0352" y="151790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OHLCV bars (1h 300-bar primary; 4h MTF confirm)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rates · Open interest · Liquidations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975104"/>
            <a:ext cx="41148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975104"/>
            <a:ext cx="54864" cy="6766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02996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CryptoPanic v2 API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0352" y="228600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RSS feeds + developer API endpoint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via FinBERT GPU (~5ms/batch, CUDA)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41148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743200"/>
            <a:ext cx="54864" cy="6766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79806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Coinglass API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0352" y="305409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OI across all exchanges (5-min TTL)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Liquidation heatmap, cascade risk estimate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511296"/>
            <a:ext cx="41148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511296"/>
            <a:ext cx="54864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56616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Book (ccxt)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0352" y="382219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top-50 bid/ask levels per symbol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ratio, wall detection, spread quality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09160" y="91440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Categories (23 total)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1207008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1207008"/>
            <a:ext cx="192024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82312" y="1316736"/>
            <a:ext cx="1773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82312" y="1572768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FundingRate · Coinglass OI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SqueezeDetection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720840" y="1207008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20840" y="1207008"/>
            <a:ext cx="192024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93992" y="1316736"/>
            <a:ext cx="1773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93992" y="1572768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LiquidationFlow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LiquidationIntel · OrderBook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09160" y="2231136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2231136"/>
            <a:ext cx="192024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82312" y="2340864"/>
            <a:ext cx="1773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82312" y="2596896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Whale · OnChain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MinerFlow · Stablecoin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720840" y="2231136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20840" y="2231136"/>
            <a:ext cx="19202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93992" y="2340864"/>
            <a:ext cx="1773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93992" y="2596896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(FinBERT) · Reddit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· Telegram · Social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09160" y="3255264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3255264"/>
            <a:ext cx="19202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82312" y="3364992"/>
            <a:ext cx="1773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Structure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82312" y="3621024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VolatilitySurface · MacroRisk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SectorRotation · Narrative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720840" y="3255264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20840" y="3255264"/>
            <a:ext cx="19202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93992" y="3364992"/>
            <a:ext cx="1773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Risk/Execution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793992" y="3621024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CrashDetection · Scalp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PositionMonitor · Options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65760" y="4279392"/>
            <a:ext cx="8412480" cy="27432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4279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Candle-boundary timer: scans fire at exact 1h/15m candle close (UTC epoch alignment + 30s buffer). Never mid-bar.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52628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TRACK 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agents run in parallel, each with a narrow data responsibility. They stream normalized signals to the EventBus, where signal models and the crash detector subscribe. The key principle: no single agent has veto power — all inputs are weighted and combined downstream.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1–7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Agents: Derivatives &amp; Liquidity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35024"/>
            <a:ext cx="84124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463040"/>
            <a:ext cx="4224528" cy="658368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463040"/>
            <a:ext cx="4224528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54480"/>
            <a:ext cx="4041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FundingRate Agent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755648"/>
            <a:ext cx="4041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Evaluates: Perpetual funding rates + 24h OI per symbol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5488" y="1901952"/>
            <a:ext cx="40416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Signal −0.85 to +0.85 · Confidence 0.30–0.85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75488" y="1975104"/>
            <a:ext cx="40416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FundingRateModel sub-model reads cached signal · CrashDetector weight 0.25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736592" y="1463040"/>
            <a:ext cx="4224528" cy="658368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6592" y="1463040"/>
            <a:ext cx="4224528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1554480"/>
            <a:ext cx="4041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Coinglass Agent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28032" y="1755648"/>
            <a:ext cx="4041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Evaluates: Aggregated OI across all exchanges, 1h % change (12×5m buckets)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828032" y="1901952"/>
            <a:ext cx="40416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oi_change_1h_pct · raw_oi_usd · age_seconds · 5-min TTL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828032" y="1975104"/>
            <a:ext cx="40416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OI Signal module gate + confluence modifier · LiquidationIntel fallback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84048" y="2212848"/>
            <a:ext cx="4224528" cy="658368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2212848"/>
            <a:ext cx="422452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304288"/>
            <a:ext cx="4041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OrderBook Agent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" y="2505456"/>
            <a:ext cx="4041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Evaluates: L2 top-50 bid/ask: volume imbalance, wall sizes, spread quality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75488" y="2651760"/>
            <a:ext cx="40416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Signal −0.80 to +0.80 · imbalance ratio, bid/ask wall pct, spread pct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5488" y="2724912"/>
            <a:ext cx="40416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OrderBookModel sub-model (entry timing) · CrashDetector weight 0.20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736592" y="2212848"/>
            <a:ext cx="4224528" cy="658368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36592" y="2212848"/>
            <a:ext cx="4224528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2304288"/>
            <a:ext cx="4041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LiquidationFlow Agent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28032" y="2505456"/>
            <a:ext cx="4041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Evaluates: Long vs short liquidation volumes per 5m window (or price-action proxy)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828032" y="2651760"/>
            <a:ext cx="40416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Signal −0.75 to +0.75 · long/short liq volumes, ratio, cascade reason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28032" y="2724912"/>
            <a:ext cx="40416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CrashDetector derivatives component · LiquidationIntel as proxy data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2962656"/>
            <a:ext cx="4224528" cy="658368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2962656"/>
            <a:ext cx="4224528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054096"/>
            <a:ext cx="4041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LiquidationIntel Agent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" y="3255264"/>
            <a:ext cx="4041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Evaluates: Cascade risk via Coinglass (primary), exchange endpoints, or synthetic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75488" y="3401568"/>
            <a:ext cx="40416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cascade_risk 0–1 · liq_density_long/short · estimated level prices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75488" y="3474720"/>
            <a:ext cx="40416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Topics.CASCADE_ALERT (risk&gt;0.70) · OI Signal confidence scaler · UI zones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736592" y="2962656"/>
            <a:ext cx="4224528" cy="658368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36592" y="2962656"/>
            <a:ext cx="422452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3054096"/>
            <a:ext cx="4041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SqueezeDetection Agent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28032" y="3255264"/>
            <a:ext cx="4041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Evaluates: L/S ratio, 24h funding history, OI delta, top-trader ratio (Binance)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828032" y="3401568"/>
            <a:ext cx="40416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Squeeze prob 0–1 · crowding_score 0–1 · signal −0.80 to +0.80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828032" y="3474720"/>
            <a:ext cx="40416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Topics.SQUEEZE_DETECTED · PositionSizer (crowding→size reduction) · CrashDefense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84048" y="3712464"/>
            <a:ext cx="8394192" cy="658368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4048" y="3712464"/>
            <a:ext cx="8394192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" y="3803904"/>
            <a:ext cx="8211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 Agent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5488" y="4005072"/>
            <a:ext cx="8211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Evaluates: Total stablecoin supply (USDT/USDC/DAI/FRAX/TUSD) + depeg detection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75488" y="4151376"/>
            <a:ext cx="8211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Signal −0.90 to +0.50 · net flow 24h · depeg list · supply change %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75488" y="4261104"/>
            <a:ext cx="8211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CrashDetector stablecoin component (weight 0.10) · UI Liquidity Monitor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52628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TRACK 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Derivatives and liquidity agents form the risk layer of the intelligence network. FundingRate and Coinglass signals feed directly into the FundingRateModel sub-model. LiquidationIntel publishes CASCADE_ALERT events that can elevate the crash score. SqueezeDetection reduces position size when leverage crowding is detected.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8–23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Agents: Sentiment, Macro &amp; Risk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35024"/>
            <a:ext cx="84124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463040"/>
            <a:ext cx="8394192" cy="438912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463040"/>
            <a:ext cx="8394192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361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Agent (FinBERT)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834640" y="1536192"/>
            <a:ext cx="5852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Evaluates: Crypto news headlines; GPU FinBERT scoring (CUDA ~5ms/batch); 2h temporal decay half-life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5488" y="1700784"/>
            <a:ext cx="4937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Signal −1.0 to +1.0 · confidence 0–1 · article count · top headline · engine: finbert/vader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468112" y="1700784"/>
            <a:ext cx="3246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CrashDetector sentiment component · UI Sentiment Panel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84048" y="1984248"/>
            <a:ext cx="8394192" cy="438912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1984248"/>
            <a:ext cx="8394192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0574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Sentiment Agent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834640" y="2057400"/>
            <a:ext cx="5852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Evaluates: Fear &amp; Greed Index · CoinGecko trending · price/volume divergence · Galaxy score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75488" y="2221992"/>
            <a:ext cx="4937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Signal −1.0 to +1.0 · trending narrative · FNG value · 30-min poll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468112" y="2221992"/>
            <a:ext cx="3246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CrashDetector sentiment extremes (weight 0.10) · UI Social Feed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84048" y="2505456"/>
            <a:ext cx="8394192" cy="438912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2505456"/>
            <a:ext cx="839419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57860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Whale Agent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834640" y="2578608"/>
            <a:ext cx="5852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Evaluates: BTC txns &gt;100 BTC (blockchain.info + mempool.space); clustering: 30-min window, 20% size tolerance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75488" y="2743200"/>
            <a:ext cx="4937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Signal −0.65 to +0.55 · whale count · total BTC volume · clustering: dominant_direction + confidence_boost +0.15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468112" y="2743200"/>
            <a:ext cx="3246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CrashDetector on-chain component (weight 0.20) · Topics.WHALE_CLUSTER_UPDATED · UI Whale Tracker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84048" y="3026664"/>
            <a:ext cx="8394192" cy="438912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3026664"/>
            <a:ext cx="839419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09981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VolatilitySurface Agent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834640" y="3099816"/>
            <a:ext cx="5852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Evaluates: Deribit IV vs realized vol proxy; IV spread trend over 10 readings; 7-day HVol change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5488" y="3264408"/>
            <a:ext cx="4937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Signal −0.70 to +0.20 · fearful/complacent/normal · IV trend · 15-min poll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468112" y="3264408"/>
            <a:ext cx="3246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CrashDetector future integration · UI Volatility Panel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3547872"/>
            <a:ext cx="8394192" cy="438912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3547872"/>
            <a:ext cx="839419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62102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/ Geopolitical Agents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834640" y="3621024"/>
            <a:ext cx="5852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Evaluates: DXY surge · yield spike · SPX crash detection (Macro) · geopolitical news classifier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75488" y="3785616"/>
            <a:ext cx="4937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Macro risk score 0–1 · directional bias · event classification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468112" y="3785616"/>
            <a:ext cx="3246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CrashDetector macro component (weight 0.05) · narrative signal modifier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84048" y="4069080"/>
            <a:ext cx="8394192" cy="438912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4048" y="4069080"/>
            <a:ext cx="8394192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41422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Coordinator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834640" y="4142232"/>
            <a:ext cx="5852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Evaluates: Lifecycle manager — not a signal producer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75488" y="4306824"/>
            <a:ext cx="4937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Initializes all 23 agent singletons; injects module-level references; publishes AGENT_STARTED/STOPPED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468112" y="4306824"/>
            <a:ext cx="3246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Called once at app startup after exchange connects. Stops all agents cleanly on shutdown.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84048" y="4553712"/>
            <a:ext cx="8394192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5902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agents also running: Reddit · Twitter · Telegram · OnChain · MinerFlow · SectorRotation · Narrative · ScalpAgent · OptionsFlow · PositionMonitor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52628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TRACK 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Agent is the most computationally intensive — it runs FinBERT inference on your RTX 4070, processing headlines at ~5ms per batch. Whale clustering adds a confidence boost when 3+ large wallets move in the same direction within 30 minutes. These signals all aggregate into the CrashDetectionAgent's 7-category composite score.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FLOW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Agent Signals Flow Into Trade Decisions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9264"/>
            <a:ext cx="1481328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9264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FundingRate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11680" y="969264"/>
            <a:ext cx="1481328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969264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OrderBook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0" y="969264"/>
            <a:ext cx="1481328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969264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Coinglass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303520" y="969264"/>
            <a:ext cx="1481328" cy="4572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969264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Liq. Flow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Intel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949440" y="969264"/>
            <a:ext cx="1481328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969264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1554480"/>
            <a:ext cx="1481328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55448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(FinBERT)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11680" y="1554480"/>
            <a:ext cx="1481328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155448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0" y="1554480"/>
            <a:ext cx="1481328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155448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03520" y="1554480"/>
            <a:ext cx="1481328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155448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949440" y="1554480"/>
            <a:ext cx="1481328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155448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2084832"/>
            <a:ext cx="3401568" cy="182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31920" y="2084832"/>
            <a:ext cx="4846320" cy="182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2157984"/>
            <a:ext cx="3364992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157984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Sub-Models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(FundingRate, OrderBook)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931920" y="2157984"/>
            <a:ext cx="4809744" cy="5120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0" y="2157984"/>
            <a:ext cx="4809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CrashDetectionAgent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7-category composite (0–10)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810512" y="2688336"/>
            <a:ext cx="36576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2688336"/>
            <a:ext cx="36576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2907792"/>
            <a:ext cx="3364992" cy="5120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ConfluenceScorer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model vote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931920" y="2907792"/>
            <a:ext cx="4809744" cy="5120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0" y="2907792"/>
            <a:ext cx="4809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CrashDefenseController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RiskGate Gate 7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810512" y="3438144"/>
            <a:ext cx="36576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3438144"/>
            <a:ext cx="36576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47088" y="3639312"/>
            <a:ext cx="4224528" cy="182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94560" y="3712464"/>
            <a:ext cx="4754880" cy="51206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94560" y="3712464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RiskGate → PositionSizer → PaperExecutor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52628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TRACK 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feed two parallel tracks. The upper track (derivatives + order book) goes directly into signal sub-models — FundingRateModel and OrderBookModel read agent caches during each scan. The lower track (all 10 agents) feeds the CrashDetectionAgent, which scores 7 categories and drives defensive risk multipliers applied at the Risk Gate.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Classification: HMM + 12-State Rule Blender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35024"/>
            <a:ext cx="84124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2646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Blending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4206240" cy="384048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7830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(≤50% uncertain HMM states)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1956816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HMM_w=0.60  Rule_w=0.40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4206240" cy="384048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2402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(&gt;50% uncertain)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" y="2414016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HMM_w=0.20  Rule_w=0.80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670048"/>
            <a:ext cx="4206240" cy="384048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6974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not fitted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" y="2871216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HMM_w=0.00  Rule_w=1.00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127248"/>
            <a:ext cx="4206240" cy="384048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1546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penalty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6928" y="3328416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2nd-best prob within 0.15 of best → confidence ×0.75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584448"/>
            <a:ext cx="4206240" cy="384048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6118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 (3-bar hold)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" y="3785616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see 3 consecutive bars agree before committing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937760" y="14264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Architecture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175564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type: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446520" y="175564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GaussianHMM — diagonal covariance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937760" y="209397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states: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46520" y="209397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(mapped to regime labels via majority vote)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37760" y="243230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train bars: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46520" y="243230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bars required before first fit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937760" y="277063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window: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46520" y="277063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5-bar rolling smoothing on all inputs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37760" y="31089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(4):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446520" y="310896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return · Realised vol · ADX/100 · Volume/MA20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937760" y="344728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rule: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46520" y="344728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'diag' — 'full' causes +definite errors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937760" y="378561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bars: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446520" y="378561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_WARMUP_BARS = 5 in _label_states()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37760" y="412394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startprob: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446520" y="412394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at startup (sparse data) — harmless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52628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TRACK 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classification uses two complementary approaches. The HMM learns market microstructure from 4 features: log return, realized vol, ADX, and volume momentum. The rule-based classifier applies explicit domain knowledge — ADX thresholds, Bollinger Band ratios, RSI levels. They're blended adaptively, with rule-based taking over when HMM degrades.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Market Regime States — Definitions &amp; Conditions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50976"/>
            <a:ext cx="150876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5097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920240" y="950976"/>
            <a:ext cx="25146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95097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Conditions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480560" y="950976"/>
            <a:ext cx="4315968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950976"/>
            <a:ext cx="4224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Regime Affinities (signal model → weight)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1243584"/>
            <a:ext cx="83393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" y="1261872"/>
            <a:ext cx="1426464" cy="201168"/>
          </a:xfrm>
          <a:prstGeom prst="roundRect">
            <a:avLst>
              <a:gd name="adj" fmla="val 27273"/>
            </a:avLst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" y="126187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BULL_TREND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965960" y="1243584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ADX≥25 + EMA slope&gt;0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526280" y="1243584"/>
            <a:ext cx="4224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1.0 · Momentum 0.7 · FundingRate 0.8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" y="1499616"/>
            <a:ext cx="8339328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" y="1517904"/>
            <a:ext cx="1426464" cy="201168"/>
          </a:xfrm>
          <a:prstGeom prst="roundRect">
            <a:avLst>
              <a:gd name="adj" fmla="val 27273"/>
            </a:avLst>
          </a:prstGeom>
          <a:solidFill>
            <a:srgbClr val="F43F5E"/>
          </a:solidFill>
          <a:ln/>
        </p:spPr>
      </p:sp>
      <p:sp>
        <p:nvSpPr>
          <p:cNvPr id="19" name="Text 17"/>
          <p:cNvSpPr/>
          <p:nvPr/>
        </p:nvSpPr>
        <p:spPr>
          <a:xfrm>
            <a:off x="402336" y="151790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BEAR_TREND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965960" y="149961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ADX≥25 + EMA slope&lt;0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526280" y="1499616"/>
            <a:ext cx="4224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0.9 · Momentum 0.7 · FundingRate 0.8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65760" y="1755648"/>
            <a:ext cx="83393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2336" y="1773936"/>
            <a:ext cx="1426464" cy="201168"/>
          </a:xfrm>
          <a:prstGeom prst="roundRect">
            <a:avLst>
              <a:gd name="adj" fmla="val 27273"/>
            </a:avLst>
          </a:pr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402336" y="1773936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RANGING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965960" y="1755648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ADX 20–25 dead zone OR ADX&lt;20 (neither accum/dist)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526280" y="1755648"/>
            <a:ext cx="4224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MeanReversion 1.0 · VWAP 0.8 · Trend 0.1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65760" y="2011680"/>
            <a:ext cx="8339328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2336" y="2029968"/>
            <a:ext cx="1426464" cy="201168"/>
          </a:xfrm>
          <a:prstGeom prst="roundRect">
            <a:avLst>
              <a:gd name="adj" fmla="val 27273"/>
            </a:avLst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02336" y="202996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VOL_EXPANSION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965960" y="2011680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 width ratio ≥1.5×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526280" y="2011680"/>
            <a:ext cx="4224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1.0 · Trend 0.25 · MeanReversion 0.02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65760" y="2267712"/>
            <a:ext cx="83393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2336" y="2286000"/>
            <a:ext cx="1426464" cy="201168"/>
          </a:xfrm>
          <a:prstGeom prst="roundRect">
            <a:avLst>
              <a:gd name="adj" fmla="val 27273"/>
            </a:avLst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402336" y="228600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VOL_COMPRESS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965960" y="226771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 width ratio ≤0.6× (pre-breakout squeeze)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526280" y="2267712"/>
            <a:ext cx="4224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MeanReversion 0.80 · VWAP 0.70 · Momentum 0.10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65760" y="2523744"/>
            <a:ext cx="8339328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2336" y="2542032"/>
            <a:ext cx="1426464" cy="201168"/>
          </a:xfrm>
          <a:prstGeom prst="roundRect">
            <a:avLst>
              <a:gd name="adj" fmla="val 27273"/>
            </a:avLst>
          </a:pr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402336" y="254203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ACCUMULATION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965960" y="2523744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ADX&lt;20 + Vol trend&gt;10% + RSI 30–55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526280" y="2523744"/>
            <a:ext cx="4224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MeanReversion 0.80 · VWAP 0.70 · Trend 0.20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65760" y="2779776"/>
            <a:ext cx="83393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2336" y="2798064"/>
            <a:ext cx="1426464" cy="201168"/>
          </a:xfrm>
          <a:prstGeom prst="roundRect">
            <a:avLst>
              <a:gd name="adj" fmla="val 27273"/>
            </a:avLst>
          </a:prstGeom>
          <a:solidFill>
            <a:srgbClr val="D97706"/>
          </a:solidFill>
          <a:ln/>
        </p:spPr>
      </p:sp>
      <p:sp>
        <p:nvSpPr>
          <p:cNvPr id="44" name="Text 42"/>
          <p:cNvSpPr/>
          <p:nvPr/>
        </p:nvSpPr>
        <p:spPr>
          <a:xfrm>
            <a:off x="402336" y="279806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965960" y="277977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ADX&lt;20 + Vol trend&lt;−10% + RSI≥60 + near 20-bar high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526280" y="2779776"/>
            <a:ext cx="4224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MeanReversion 0.70 · VWAP 0.60 · Trend 0.20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65760" y="3035808"/>
            <a:ext cx="8339328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02336" y="3054096"/>
            <a:ext cx="1426464" cy="201168"/>
          </a:xfrm>
          <a:prstGeom prst="roundRect">
            <a:avLst>
              <a:gd name="adj" fmla="val 27273"/>
            </a:avLst>
          </a:prstGeom>
          <a:solidFill>
            <a:srgbClr val="22D3EE"/>
          </a:solidFill>
          <a:ln/>
        </p:spPr>
      </p:sp>
      <p:sp>
        <p:nvSpPr>
          <p:cNvPr id="49" name="Text 47"/>
          <p:cNvSpPr/>
          <p:nvPr/>
        </p:nvSpPr>
        <p:spPr>
          <a:xfrm>
            <a:off x="402336" y="3054096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965960" y="3035808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Close&gt;EMA20 + RSI 38–55 + Vol&gt;5% + EMA slope&gt;0 + ADX&lt;25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526280" y="3035808"/>
            <a:ext cx="4224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0.70 · Sentiment 0.80 · Momentum 0.60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65760" y="3291840"/>
            <a:ext cx="83393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02336" y="3310128"/>
            <a:ext cx="1426464" cy="201168"/>
          </a:xfrm>
          <a:prstGeom prst="roundRect">
            <a:avLst>
              <a:gd name="adj" fmla="val 27273"/>
            </a:avLst>
          </a:prstGeom>
          <a:solidFill>
            <a:srgbClr val="F43F5E"/>
          </a:solidFill>
          <a:ln/>
        </p:spPr>
      </p:sp>
      <p:sp>
        <p:nvSpPr>
          <p:cNvPr id="54" name="Text 52"/>
          <p:cNvSpPr/>
          <p:nvPr/>
        </p:nvSpPr>
        <p:spPr>
          <a:xfrm>
            <a:off x="402336" y="331012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965960" y="3291840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 ratio&gt;2.0 + RSI&lt;28 + Vol trend&gt;30%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526280" y="3291840"/>
            <a:ext cx="4224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0.0 · Momentum 0.0 · FundingRate 0.60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65760" y="3547872"/>
            <a:ext cx="8339328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02336" y="3566160"/>
            <a:ext cx="1426464" cy="201168"/>
          </a:xfrm>
          <a:prstGeom prst="roundRect">
            <a:avLst>
              <a:gd name="adj" fmla="val 27273"/>
            </a:avLst>
          </a:prstGeom>
          <a:solidFill>
            <a:srgbClr val="9F1239"/>
          </a:solidFill>
          <a:ln/>
        </p:spPr>
      </p:sp>
      <p:sp>
        <p:nvSpPr>
          <p:cNvPr id="59" name="Text 57"/>
          <p:cNvSpPr/>
          <p:nvPr/>
        </p:nvSpPr>
        <p:spPr>
          <a:xfrm>
            <a:off x="402336" y="356616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LIQUIDATION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965960" y="354787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 ratio&gt;2.5 + RSI&lt;22 + Vol&gt;50% (extreme override)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4526280" y="3547872"/>
            <a:ext cx="4224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trend/momentum 0.0 · FundingRate 0.70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65760" y="3803904"/>
            <a:ext cx="83393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02336" y="3822192"/>
            <a:ext cx="1426464" cy="201168"/>
          </a:xfrm>
          <a:prstGeom prst="roundRect">
            <a:avLst>
              <a:gd name="adj" fmla="val 27273"/>
            </a:avLst>
          </a:prstGeom>
          <a:solidFill>
            <a:srgbClr val="7C3AED"/>
          </a:solidFill>
          <a:ln/>
        </p:spPr>
      </p:sp>
      <p:sp>
        <p:nvSpPr>
          <p:cNvPr id="64" name="Text 62"/>
          <p:cNvSpPr/>
          <p:nvPr/>
        </p:nvSpPr>
        <p:spPr>
          <a:xfrm>
            <a:off x="402336" y="382219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965960" y="3803904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RSI&gt;78 OR RSI&lt;22 + BB ratio&lt;0.5 + Vol&lt;−15%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526280" y="3803904"/>
            <a:ext cx="4224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0.80 · FundingRate 0.80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65760" y="4059936"/>
            <a:ext cx="8339328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02336" y="4078224"/>
            <a:ext cx="1426464" cy="201168"/>
          </a:xfrm>
          <a:prstGeom prst="roundRect">
            <a:avLst>
              <a:gd name="adj" fmla="val 27273"/>
            </a:avLst>
          </a:prstGeom>
          <a:solidFill>
            <a:srgbClr val="94A3B8"/>
          </a:solidFill>
          <a:ln/>
        </p:spPr>
      </p:sp>
      <p:sp>
        <p:nvSpPr>
          <p:cNvPr id="69" name="Text 67"/>
          <p:cNvSpPr/>
          <p:nvPr/>
        </p:nvSpPr>
        <p:spPr>
          <a:xfrm>
            <a:off x="402336" y="407822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1965960" y="405993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ADX is None/NaN (fallback only)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4526280" y="4059936"/>
            <a:ext cx="4224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0.3 · hysteresis returns last committed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74320" y="452628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TRACK 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 regimes are evaluated in strict priority order: extreme states first (Liquidation → Squeeze → Crisis → Recovery), then volatility states (Expansion → Compression), then trend states (Bull/Bear), then ranging sub-regimes (Accumulation → Distribution → Ranging). This ensures dangerous conditions are always caught before standard classification runs.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REGIME_AFFINITY Matrix: How Regime Weights Each Model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35024"/>
            <a:ext cx="84124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Σ  model_signal × base_weight × L1_adj × L2_adj × regime_affinity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1417320" cy="256032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82880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(base_w)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828800" y="1828800"/>
            <a:ext cx="658368" cy="256032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182880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bull_t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2505456" y="1828800"/>
            <a:ext cx="658368" cy="256032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05456" y="182880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bear_t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3182112" y="1828800"/>
            <a:ext cx="658368" cy="256032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82112" y="182880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ranging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3858768" y="1828800"/>
            <a:ext cx="658368" cy="256032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58768" y="182880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vol_exp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4535424" y="1828800"/>
            <a:ext cx="658368" cy="256032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35424" y="182880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vol_cmp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5212080" y="1828800"/>
            <a:ext cx="658368" cy="256032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182880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5888736" y="1828800"/>
            <a:ext cx="658368" cy="256032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88736" y="182880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6565392" y="1828800"/>
            <a:ext cx="658368" cy="256032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5392" y="182880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7242048" y="1828800"/>
            <a:ext cx="658368" cy="256032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42048" y="182880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7918704" y="1828800"/>
            <a:ext cx="658368" cy="256032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18704" y="182880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8595360" y="1828800"/>
            <a:ext cx="658368" cy="256032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0" y="182880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365760" y="2103120"/>
            <a:ext cx="1417320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210312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97280" y="2103120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w=0.35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828800" y="2103120"/>
            <a:ext cx="658368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0" y="210312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05456" y="2103120"/>
            <a:ext cx="658368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05456" y="210312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182112" y="2103120"/>
            <a:ext cx="658368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82112" y="210312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858768" y="2103120"/>
            <a:ext cx="658368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58768" y="210312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35424" y="2103120"/>
            <a:ext cx="658368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35424" y="210312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12080" y="2103120"/>
            <a:ext cx="658368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2080" y="210312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888736" y="2103120"/>
            <a:ext cx="658368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88736" y="210312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565392" y="2103120"/>
            <a:ext cx="658368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65392" y="210312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242048" y="2103120"/>
            <a:ext cx="658368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42048" y="210312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918704" y="2103120"/>
            <a:ext cx="658368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18704" y="210312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595360" y="2103120"/>
            <a:ext cx="658368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95360" y="210312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5760" y="2450592"/>
            <a:ext cx="1417320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4048" y="2450592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mom_break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097280" y="245059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w=0.25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1828800" y="2450592"/>
            <a:ext cx="658368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828800" y="245059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505456" y="2450592"/>
            <a:ext cx="658368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505456" y="245059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182112" y="2450592"/>
            <a:ext cx="658368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182112" y="245059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858768" y="2450592"/>
            <a:ext cx="658368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58768" y="245059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535424" y="2450592"/>
            <a:ext cx="658368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35424" y="245059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212080" y="2450592"/>
            <a:ext cx="658368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212080" y="245059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888736" y="2450592"/>
            <a:ext cx="658368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88736" y="245059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565392" y="2450592"/>
            <a:ext cx="658368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565392" y="245059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242048" y="2450592"/>
            <a:ext cx="658368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242048" y="245059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7918704" y="2450592"/>
            <a:ext cx="658368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918704" y="245059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8595360" y="2450592"/>
            <a:ext cx="658368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595360" y="245059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65760" y="2798064"/>
            <a:ext cx="1417320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84048" y="279806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vwap_rev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1097280" y="279806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w=0.28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1828800" y="2798064"/>
            <a:ext cx="658368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828800" y="2798064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2505456" y="2798064"/>
            <a:ext cx="658368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505456" y="2798064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3182112" y="2798064"/>
            <a:ext cx="658368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182112" y="2798064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3858768" y="2798064"/>
            <a:ext cx="658368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858768" y="2798064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535424" y="2798064"/>
            <a:ext cx="658368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535424" y="2798064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5212080" y="2798064"/>
            <a:ext cx="658368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212080" y="2798064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5888736" y="2798064"/>
            <a:ext cx="658368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888736" y="2798064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565392" y="2798064"/>
            <a:ext cx="658368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65392" y="2798064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7242048" y="2798064"/>
            <a:ext cx="658368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242048" y="2798064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7918704" y="2798064"/>
            <a:ext cx="658368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918704" y="2798064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8595360" y="2798064"/>
            <a:ext cx="658368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595360" y="2798064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365760" y="3145536"/>
            <a:ext cx="1417320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84048" y="3145536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mean_rev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1097280" y="3145536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w=0.25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1828800" y="3145536"/>
            <a:ext cx="658368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828800" y="3145536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2505456" y="3145536"/>
            <a:ext cx="658368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505456" y="3145536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3182112" y="3145536"/>
            <a:ext cx="658368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182112" y="3145536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3858768" y="3145536"/>
            <a:ext cx="658368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858768" y="3145536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4535424" y="3145536"/>
            <a:ext cx="658368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535424" y="3145536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5212080" y="3145536"/>
            <a:ext cx="658368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212080" y="3145536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5888736" y="3145536"/>
            <a:ext cx="658368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888736" y="3145536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6565392" y="3145536"/>
            <a:ext cx="658368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565392" y="3145536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7242048" y="3145536"/>
            <a:ext cx="658368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242048" y="3145536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7918704" y="3145536"/>
            <a:ext cx="658368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7918704" y="3145536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8595360" y="3145536"/>
            <a:ext cx="658368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8595360" y="3145536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365760" y="3493008"/>
            <a:ext cx="1417320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84048" y="3493008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</a:t>
            </a:r>
            <a:endParaRPr lang="en-US" sz="800" dirty="0"/>
          </a:p>
        </p:txBody>
      </p:sp>
      <p:sp>
        <p:nvSpPr>
          <p:cNvPr id="133" name="Text 131"/>
          <p:cNvSpPr/>
          <p:nvPr/>
        </p:nvSpPr>
        <p:spPr>
          <a:xfrm>
            <a:off x="1097280" y="349300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w=0.2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1828800" y="3493008"/>
            <a:ext cx="658368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828800" y="349300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2505456" y="3493008"/>
            <a:ext cx="658368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2505456" y="349300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3182112" y="3493008"/>
            <a:ext cx="658368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182112" y="349300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3858768" y="3493008"/>
            <a:ext cx="658368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858768" y="349300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4535424" y="3493008"/>
            <a:ext cx="658368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4535424" y="349300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endParaRPr lang="en-US" sz="900" dirty="0"/>
          </a:p>
        </p:txBody>
      </p:sp>
      <p:sp>
        <p:nvSpPr>
          <p:cNvPr id="144" name="Shape 142"/>
          <p:cNvSpPr/>
          <p:nvPr/>
        </p:nvSpPr>
        <p:spPr>
          <a:xfrm>
            <a:off x="5212080" y="3493008"/>
            <a:ext cx="658368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5212080" y="349300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5888736" y="3493008"/>
            <a:ext cx="658368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5888736" y="349300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6565392" y="3493008"/>
            <a:ext cx="658368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6565392" y="349300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900" dirty="0"/>
          </a:p>
        </p:txBody>
      </p:sp>
      <p:sp>
        <p:nvSpPr>
          <p:cNvPr id="150" name="Shape 148"/>
          <p:cNvSpPr/>
          <p:nvPr/>
        </p:nvSpPr>
        <p:spPr>
          <a:xfrm>
            <a:off x="7242048" y="3493008"/>
            <a:ext cx="658368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7242048" y="349300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7918704" y="3493008"/>
            <a:ext cx="658368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7918704" y="349300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900" dirty="0"/>
          </a:p>
        </p:txBody>
      </p:sp>
      <p:sp>
        <p:nvSpPr>
          <p:cNvPr id="154" name="Shape 152"/>
          <p:cNvSpPr/>
          <p:nvPr/>
        </p:nvSpPr>
        <p:spPr>
          <a:xfrm>
            <a:off x="8595360" y="3493008"/>
            <a:ext cx="658368" cy="32918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8595360" y="349300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900" dirty="0"/>
          </a:p>
        </p:txBody>
      </p:sp>
      <p:sp>
        <p:nvSpPr>
          <p:cNvPr id="156" name="Shape 154"/>
          <p:cNvSpPr/>
          <p:nvPr/>
        </p:nvSpPr>
        <p:spPr>
          <a:xfrm>
            <a:off x="365760" y="3840480"/>
            <a:ext cx="1417320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384048" y="384048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order_book</a:t>
            </a:r>
            <a:endParaRPr lang="en-US" sz="800" dirty="0"/>
          </a:p>
        </p:txBody>
      </p:sp>
      <p:sp>
        <p:nvSpPr>
          <p:cNvPr id="158" name="Text 156"/>
          <p:cNvSpPr/>
          <p:nvPr/>
        </p:nvSpPr>
        <p:spPr>
          <a:xfrm>
            <a:off x="1097280" y="3840480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w=0.18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1828800" y="3840480"/>
            <a:ext cx="658368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828800" y="384048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2505456" y="3840480"/>
            <a:ext cx="658368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2505456" y="384048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900" dirty="0"/>
          </a:p>
        </p:txBody>
      </p:sp>
      <p:sp>
        <p:nvSpPr>
          <p:cNvPr id="163" name="Shape 161"/>
          <p:cNvSpPr/>
          <p:nvPr/>
        </p:nvSpPr>
        <p:spPr>
          <a:xfrm>
            <a:off x="3182112" y="3840480"/>
            <a:ext cx="658368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3182112" y="384048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3858768" y="3840480"/>
            <a:ext cx="658368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3858768" y="384048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4535424" y="3840480"/>
            <a:ext cx="658368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4535424" y="384048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900" dirty="0"/>
          </a:p>
        </p:txBody>
      </p:sp>
      <p:sp>
        <p:nvSpPr>
          <p:cNvPr id="169" name="Shape 167"/>
          <p:cNvSpPr/>
          <p:nvPr/>
        </p:nvSpPr>
        <p:spPr>
          <a:xfrm>
            <a:off x="5212080" y="3840480"/>
            <a:ext cx="658368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5212080" y="384048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900" dirty="0"/>
          </a:p>
        </p:txBody>
      </p:sp>
      <p:sp>
        <p:nvSpPr>
          <p:cNvPr id="171" name="Shape 169"/>
          <p:cNvSpPr/>
          <p:nvPr/>
        </p:nvSpPr>
        <p:spPr>
          <a:xfrm>
            <a:off x="5888736" y="3840480"/>
            <a:ext cx="658368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5888736" y="384048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6565392" y="3840480"/>
            <a:ext cx="658368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6565392" y="384048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7242048" y="3840480"/>
            <a:ext cx="658368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7242048" y="384048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900" dirty="0"/>
          </a:p>
        </p:txBody>
      </p:sp>
      <p:sp>
        <p:nvSpPr>
          <p:cNvPr id="177" name="Shape 175"/>
          <p:cNvSpPr/>
          <p:nvPr/>
        </p:nvSpPr>
        <p:spPr>
          <a:xfrm>
            <a:off x="7918704" y="3840480"/>
            <a:ext cx="658368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7918704" y="384048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900" dirty="0"/>
          </a:p>
        </p:txBody>
      </p:sp>
      <p:sp>
        <p:nvSpPr>
          <p:cNvPr id="179" name="Shape 177"/>
          <p:cNvSpPr/>
          <p:nvPr/>
        </p:nvSpPr>
        <p:spPr>
          <a:xfrm>
            <a:off x="8595360" y="3840480"/>
            <a:ext cx="658368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8595360" y="384048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900" dirty="0"/>
          </a:p>
        </p:txBody>
      </p:sp>
      <p:sp>
        <p:nvSpPr>
          <p:cNvPr id="181" name="Shape 179"/>
          <p:cNvSpPr/>
          <p:nvPr/>
        </p:nvSpPr>
        <p:spPr>
          <a:xfrm>
            <a:off x="365760" y="4315968"/>
            <a:ext cx="841248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502920" y="43159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models (mean_rev, vwap_rev) have their weights set to 0.0 at runtime regardless of affinity values.</a:t>
            </a:r>
            <a:endParaRPr lang="en-US" sz="800" dirty="0"/>
          </a:p>
        </p:txBody>
      </p:sp>
      <p:sp>
        <p:nvSpPr>
          <p:cNvPr id="183" name="Shape 181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274320" y="452628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TRACK 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matrix is the static domain-knowledge prior. Green = model is credible in this regime. Red = model should not fire here (e.g. TrendModel affinity 0.0 in Crisis). These multipliers are applied BEFORE L1/L2 adaptive weights, so even a well-performing model gets dampened when operating outside its optimal regime.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Models: 8 Models, 4 Active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32688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32688"/>
            <a:ext cx="64008" cy="11155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76472" y="987552"/>
            <a:ext cx="713232" cy="219456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3776472" y="98755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98755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TrendModel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" y="1234440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 50.3%  PF 1.47  Avg R +0.22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21208" y="1408176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regimes: bull_trend, bear_trend · Entry buffer: +0.20×ATR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21208" y="1591056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EMA9&gt;EMA21 · ADX&gt;25 · RSI 45–70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21208" y="1755648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EMA9&lt;EMA21 · ADX&gt;25 · RSI 30–55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21208" y="1901952"/>
            <a:ext cx="3886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Base 0.15 + EMA100 +0.25 + MACD +0.20 + ADX bonus up to +0.40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663440" y="932688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932688"/>
            <a:ext cx="64008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74152" y="987552"/>
            <a:ext cx="713232" cy="219456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8074152" y="98755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818888" y="98755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MomentumBreakout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18888" y="1234440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 63.5%  PF 4.17  Avg R +1.21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18888" y="1408176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regimes: vol_expansion ONLY · Entry buffer: +0.10×ATR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818888" y="1591056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Close&gt;20-bar high · Volume&gt;1.5×avg · RSI&gt;55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818888" y="1755648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Close&lt;20-bar low · Volume&gt;1.5×avg · RSI&lt;45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818888" y="1901952"/>
            <a:ext cx="3886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Base 0.35 + vol score up to +0.35 + breakout score up to +0.30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65760" y="2139696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139696"/>
            <a:ext cx="64008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76472" y="2194560"/>
            <a:ext cx="713232" cy="219456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3776472" y="219456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21208" y="2194560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FundingRateModel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1208" y="2441448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Agent-derived (all regimes)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21208" y="2615184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regimes: All regimes — funding affinity 0.5–0.8 · Entry buffer: 0.0×ATR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21208" y="2798064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Extreme neg funding (crowded shorts → squeeze signal)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21208" y="2962656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Extreme pos funding (overleveraged longs → reset signal)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21208" y="3108960"/>
            <a:ext cx="3886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Based on FundingRate agent signal strength × regime_affinity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663440" y="2139696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2139696"/>
            <a:ext cx="64008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74152" y="2194560"/>
            <a:ext cx="713232" cy="219456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/>
        </p:spPr>
      </p:sp>
      <p:sp>
        <p:nvSpPr>
          <p:cNvPr id="39" name="Text 37"/>
          <p:cNvSpPr/>
          <p:nvPr/>
        </p:nvSpPr>
        <p:spPr>
          <a:xfrm>
            <a:off x="8074152" y="219456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ACTIVE*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818888" y="2194560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OrderBookModel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18888" y="2441448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gate: never fires at 1h+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18888" y="2615184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regimes: All regimes structurally · Entry buffer: 0.0×ATR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818888" y="2798064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Strong bid imbalance + large bid walls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818888" y="2962656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Strong ask imbalance + large ask walls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818888" y="3108960"/>
            <a:ext cx="3886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min_conf/tf_weight = 0.60/0.55 = 1.09 &gt; 1.0 → blocks at 1h TF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65760" y="3346704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3346704"/>
            <a:ext cx="64008" cy="11155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76472" y="3401568"/>
            <a:ext cx="713232" cy="219456"/>
          </a:xfrm>
          <a:prstGeom prst="roundRect">
            <a:avLst>
              <a:gd name="adj" fmla="val 25000"/>
            </a:avLst>
          </a:prstGeom>
          <a:solidFill>
            <a:srgbClr val="F43F5E"/>
          </a:solidFill>
          <a:ln/>
        </p:spPr>
      </p:sp>
      <p:sp>
        <p:nvSpPr>
          <p:cNvPr id="49" name="Text 47"/>
          <p:cNvSpPr/>
          <p:nvPr/>
        </p:nvSpPr>
        <p:spPr>
          <a:xfrm>
            <a:off x="3776472" y="340156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21208" y="3401568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VWAPReversion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21208" y="3648456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 0.28 — below 1.0 threshold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21208" y="3822192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regimes: ranging, accumulation, vol_compress, recovery · Entry buffer: −0.10×ATR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21208" y="4005072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VWAP z-score &lt; −1.5σ · RSI&lt;42 · price recovering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21208" y="4169664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VWAP z-score &gt; +1.5σ · RSI&gt;58 · price reversing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21208" y="4315968"/>
            <a:ext cx="3886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Base 0.50 + z-score bonuses + RSI oversold/overbought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4663440" y="3346704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63440" y="3346704"/>
            <a:ext cx="64008" cy="11155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074152" y="3401568"/>
            <a:ext cx="713232" cy="219456"/>
          </a:xfrm>
          <a:prstGeom prst="roundRect">
            <a:avLst>
              <a:gd name="adj" fmla="val 25000"/>
            </a:avLst>
          </a:prstGeom>
          <a:solidFill>
            <a:srgbClr val="F43F5E"/>
          </a:solidFill>
          <a:ln/>
        </p:spPr>
      </p:sp>
      <p:sp>
        <p:nvSpPr>
          <p:cNvPr id="59" name="Text 57"/>
          <p:cNvSpPr/>
          <p:nvPr/>
        </p:nvSpPr>
        <p:spPr>
          <a:xfrm>
            <a:off x="8074152" y="340156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818888" y="3401568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MeanReversion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4818888" y="3648456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 0.21 — Study 4 −$18k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818888" y="3822192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regimes: ranging (affinity 1.0) · Entry buffer: −0.10×ATR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818888" y="4005072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Price at lower BB band + RSI oversold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818888" y="4169664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Price at upper BB band + RSI overbought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4818888" y="4315968"/>
            <a:ext cx="3886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Disabled via config: disabled_models list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4320" y="452628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TRACK 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produces a ModelSignal with direction, strength (0–1), entry price, stop, and take-profit. Strength is additive — you earn it through bonus conditions. MomentumBreakout requires vol_expansion regime, making it highly selective. OrderBook structurally cannot fire at 1h due to a confidence/weight ceiling.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Scoring: Weighted Multi-Model Voting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35024"/>
            <a:ext cx="84124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Σ  model_strength × base_weight × regime_affinity × L1_adj × L2_adj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42062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402336" cy="42062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186537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dominance check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32688" y="2066544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long_weight_sum vs short_weight_sum · dominance = |L−S|/(L+S) · Reject if dominance &lt; 0.30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8229600" cy="42062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31720"/>
            <a:ext cx="402336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31720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32688" y="236829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dampening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32688" y="2569464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sharing same underlying data source get correlated-signal dampening to prevent double-counting momentum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8229600" cy="42062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34640"/>
            <a:ext cx="402336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34640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32688" y="287121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weight calculation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32688" y="3072384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base_weight × regime_affinity × L1_winrate_adj × L2_regime_asset_adj · L2 tiers: Full≥10 trades, Partial 5–9, Fallback &lt;5 (50% strength)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8229600" cy="42062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337560"/>
            <a:ext cx="402336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337560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2688" y="337413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comparison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2688" y="3575304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SCORE_THRESHOLD = 0.55 · Overridable via config idss.min_confluence_score (current 0.45) · Per-asset override via MultiAssetConfig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8229600" cy="42062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840480"/>
            <a:ext cx="402336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840480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32688" y="387705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injection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32688" y="4078224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OrchestratorEngine submits a weighted meta-signal (A-1 fix) · orch_confidence applied with model weight 0.22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52628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TRACK 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scoring is not a simple average — it's a 5-step process. Step 1 rejects if models disagree too much on direction. Step 2 prevents double-counting correlated signals. Steps 3–4 apply adaptive weights and thresholds. Step 5 injects the Orchestrator meta-signal as an additional vote. Only after all 5 steps does a candidate emerge.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Gate: 7 Independent Approval Checks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50976"/>
            <a:ext cx="841248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50976"/>
            <a:ext cx="4626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Confluence Score Threshold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48810" y="950976"/>
            <a:ext cx="386974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0.45 (config: idss.min_confluence_score). Per-asset override supported.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31520" y="1408176"/>
            <a:ext cx="749808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408176"/>
            <a:ext cx="4123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Direction Dominance ≥ 0.30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30522" y="1408176"/>
            <a:ext cx="34491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min(|long_w − short_w| / total_w) must exceed 0.30 (config: confluence.min_direction_dominance).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097280" y="1865376"/>
            <a:ext cx="6766560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65376"/>
            <a:ext cx="3721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Multi-Timeframe Confirmation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15891" y="1865376"/>
            <a:ext cx="3112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 bar direction must confirm 1h bar direction (when multi_tf.confirmation_required: true). Rejects MTF conflict.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463040" y="2322576"/>
            <a:ext cx="6035040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2322576"/>
            <a:ext cx="3319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EV Gate (Expected Value)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01261" y="2322576"/>
            <a:ext cx="27761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= (win_rate × reward_pts) − ((1−win_rate) × stop_pts) &gt; 0, adjusted for slippage. R:R floor ≥ 1.0 enforced.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828800" y="2779776"/>
            <a:ext cx="530352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0" y="2779776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Portfolio Heat Check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86630" y="2779776"/>
            <a:ext cx="243961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open exposure &lt; 6% of capital. Prevents simultaneous over-correlated positions.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194560" y="3236976"/>
            <a:ext cx="45720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323697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R:R Floor ≥ 1.0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0" y="323697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≥ Risk after slippage adjustment. Hard minimum — no trade with negative R:R clears this gate.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560320" y="3694176"/>
            <a:ext cx="3840480" cy="3657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3694176"/>
            <a:ext cx="2112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Crash Defense Clearance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57370" y="3694176"/>
            <a:ext cx="176662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CrashDefenseController tier ≤ 1 (WATCHFUL). Tier 2+ (DEFENSIVE/EMERGENCY) blocks all new entries.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926080" y="4169664"/>
            <a:ext cx="329184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0" y="416966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TRADE EXECUTED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52628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TRACK 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 narrows toward execution. Gates are independent — failing any one rejects the trade. The crash defense gate at the bottom is a hard stop: even a perfect confluence signal will be blocked if the crash scorer has elevated to Tier 2. Stateless validator — no Qt dependencies, safe for headless testing.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6–7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Sizing &amp; Paper Execution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35024"/>
            <a:ext cx="84124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26464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Formula (Quarter-Kelly)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4937760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73736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risk_amount   =  account_equity  ×  risk_pct (0.5%)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121408"/>
            <a:ext cx="4937760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212140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raw_size      =  risk_amount  ÷  stop_distance_pct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505456"/>
            <a:ext cx="4937760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2505456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size_usdt     =  min(raw_size,  equity × max_capital_pct)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889504"/>
            <a:ext cx="4937760" cy="329184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2889504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max_capital_pct  =  4%  (hard ceiling per trade)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36499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Config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63931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risk_pct_per_trade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596896" y="363931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91840" y="363931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conservative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57200" y="385876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max_capital_pct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96896" y="38587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0" y="3858768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cap — both vars must move together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57200" y="407822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portfolio_heat_limit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96896" y="407822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91840" y="4078224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open exposure ceiling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57200" y="429768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max_size_usdt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96896" y="42976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91840" y="429768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0.0 — non-zero creates invisible ceiling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577840" y="142646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Executor Thread Safety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77840" y="1755648"/>
            <a:ext cx="152032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77840" y="1755648"/>
            <a:ext cx="3108960" cy="60350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77840" y="1755648"/>
            <a:ext cx="31089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0" y="186537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Queued Signals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69280" y="208483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cross-thread calls via QueuedConnection. on_tick() ONLY from main Qt thread — never from QThread or asyncio.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577840" y="2450592"/>
            <a:ext cx="152032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77840" y="2450592"/>
            <a:ext cx="3108960" cy="60350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77840" y="2450592"/>
            <a:ext cx="31089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0" y="256032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bus.publish()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669280" y="277977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threads emit a Qt signal. The connected slot runs on the main thread and calls publish().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577840" y="3145536"/>
            <a:ext cx="152032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77840" y="3145536"/>
            <a:ext cx="3108960" cy="60350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77840" y="3145536"/>
            <a:ext cx="31089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0" y="325526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Order State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669280" y="34747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price, entry time, stop/target per position. Auto-manages open/close lifecycle with DB write on close.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577840" y="3840480"/>
            <a:ext cx="152032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77840" y="3840480"/>
            <a:ext cx="3108960" cy="603504"/>
          </a:xfrm>
          <a:prstGeom prst="rect">
            <a:avLst/>
          </a:prstGeom>
          <a:solidFill>
            <a:srgbClr val="15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77840" y="3840480"/>
            <a:ext cx="31089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69280" y="395020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load order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669280" y="416966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JSON positions first (fast), then SQLite replay overwrites capital (authoritative). Always this order.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452628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TRACK 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rule: max_size_usdt must always be 0.0. A non-zero value silently overrides the risk calculation and creates a cap that can't be seen in the UI. The 4% hard cap comes exclusively from max_capital_pct. Thread safety is non-negotiable — a single direct call to on_tick() from a background thread will crash the Qt GUI.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F43F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LOGIC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Logic: Stop, Target, Trailing &amp; Signal Reversal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50976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50976"/>
            <a:ext cx="54864" cy="15727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" y="107899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43F5E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0704" y="107899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Stop Loss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" y="1609344"/>
            <a:ext cx="3904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ATR-scaled: stop = entry ± ATR × regime_multiplier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93776" y="1901952"/>
            <a:ext cx="3904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Regime multipliers: bull_trend 1.875× · ranging 3.125× · vol_expansion 3.75×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93776" y="2194560"/>
            <a:ext cx="3904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12 regimes have defined ATR multipliers in REGIME_ATR_MULTIPLIERS dict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950976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950976"/>
            <a:ext cx="54864" cy="15727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91456" y="107899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791456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58384" y="107899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Profit Target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91456" y="1609344"/>
            <a:ext cx="3904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 = entry ± stop_distance × R:R_ratio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91456" y="1901952"/>
            <a:ext cx="3904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R:R ratio derived from confluence score strength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91456" y="2194560"/>
            <a:ext cx="3904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R:R floor ≥ 1.0 enforced before entry (Risk Gate)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2670048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670048"/>
            <a:ext cx="54864" cy="15727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" y="279806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60704" y="279806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Stop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" y="3328416"/>
            <a:ext cx="3904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Activates when trade reaches 1R profit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93776" y="3621024"/>
            <a:ext cx="3904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Trails ATR × trail_multiplier behind price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93776" y="3913632"/>
            <a:ext cx="3904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Locks in minimum 0.5R once activated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2670048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2670048"/>
            <a:ext cx="54864" cy="1572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91456" y="279806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4791456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58384" y="279806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Reversal / Forced Exit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91456" y="3328416"/>
            <a:ext cx="3904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Opposing confluence &gt; threshold → close and flip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91456" y="3621024"/>
            <a:ext cx="3904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Regime change to Crisis/Liquidation → immediate close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91456" y="3913632"/>
            <a:ext cx="3904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CrashDefense Tier 3 EMERGENCY → close ALL positions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" y="4297680"/>
            <a:ext cx="8412480" cy="27432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partial_close() MUST create _closed_trades entry + DB row + publish TRADE_CLOSED. Partial closes without records are invisible to adaptive learning and analytics.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52628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TRACK 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ATR-scaling is critical: in volatile markets the stop widens automatically, preventing premature exits on normal volatility. The regime multiplier table means vol_expansion trades get stops 2× wider than bull_trend trades. Trailing stops only activate after 1R to avoid being stopped out of winning trades on small retracements.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F43F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Learning: L1 + L2 Online Weight Updates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35024"/>
            <a:ext cx="84124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44752"/>
            <a:ext cx="1261872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719072" y="1664208"/>
            <a:ext cx="137160" cy="1097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56232" y="1444752"/>
            <a:ext cx="1261872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56232" y="1444752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TradeOutcome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18104" y="1664208"/>
            <a:ext cx="137160" cy="1097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55264" y="1444752"/>
            <a:ext cx="1261872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55264" y="1444752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Model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17136" y="1664208"/>
            <a:ext cx="137160" cy="1097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444752"/>
            <a:ext cx="1261872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54296" y="1444752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Regime×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WR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16168" y="1664208"/>
            <a:ext cx="137160" cy="1097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53328" y="1444752"/>
            <a:ext cx="1261872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53328" y="1444752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315200" y="1664208"/>
            <a:ext cx="137160" cy="1097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52360" y="1444752"/>
            <a:ext cx="1261872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1444752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2084832"/>
            <a:ext cx="8302752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121408"/>
            <a:ext cx="8302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  Real-time feedback — every trade close triggers this chain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2414016"/>
            <a:ext cx="2688336" cy="1828800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414016"/>
            <a:ext cx="2688336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505456"/>
            <a:ext cx="2505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L1: Model Win Rate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2798064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Rolling win rate per model (all 5)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" y="3035808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Weight adj = 1.0 ± 0.15 max based on WR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8640" y="3273552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Updated after every trade close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8640" y="3511296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 &gt; 55% → +0.15 boost · WR &lt; 40% → −0.15 penalty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8640" y="3749040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Bounded: never falls to zero (min floor)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8640" y="3986784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Activation: always active (no minimum trade count)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383280" y="2414016"/>
            <a:ext cx="2688336" cy="1828800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0" y="2414016"/>
            <a:ext cx="2688336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0" y="2505456"/>
            <a:ext cx="2505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L2: Regime × Asset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474720" y="2798064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activation ≥10 trades in (model, regime) pair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474720" y="3035808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Partial activation 5–9 trades (confidence-scaled)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474720" y="3273552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Fallback &lt;5 trades (50% strength, model-scoped)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474720" y="3511296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Also tracks (model, symbol) pair separately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474720" y="3749040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Prevents penalizing models for out-of-regime fires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474720" y="3986784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Combined: base × L1_adj × L2_adj = final weight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309360" y="2414016"/>
            <a:ext cx="2688336" cy="1828800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09360" y="2414016"/>
            <a:ext cx="2688336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2505456"/>
            <a:ext cx="2505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Auto-Disable Rules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00800" y="2798064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of: WR&lt;40% + expectancy&lt;−0.10R + PF&lt;0.85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400800" y="3035808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Plus: no positive-expectancy regimes found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400800" y="3273552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Plus: ≥50 trades minimum (cannot auto-disable early)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400800" y="3511296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Single-criterion disable eliminated (too aggressive)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400800" y="3749040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Disable only via config: disabled_models list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400800" y="3986784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Disabled code NEVER removed — re-enable via config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52628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TRACK 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closes the feedback loop. L1 is fast and global — it adjusts each model's weight based on recent win rate. L2 is slow and granular — it learns which models work best in specific regimes with specific assets. The weight engine combines both, then multiplies by regime affinity before the next confluence score is computed.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F43F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DEFENSE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Defense System: 7 Components, 4 Tiers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50976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7-Component Crash Scorer (Output: 0–10)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43584"/>
            <a:ext cx="4846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07592"/>
            <a:ext cx="502920" cy="219456"/>
          </a:xfrm>
          <a:prstGeom prst="roundRect">
            <a:avLst>
              <a:gd name="adj" fmla="val 25000"/>
            </a:avLst>
          </a:prstGeom>
          <a:solidFill>
            <a:srgbClr val="F43F5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3075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932688" y="12801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Derivatives Risk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32688" y="1444752"/>
            <a:ext cx="416966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rate extremes + OI drop + liquidation spikes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645920"/>
            <a:ext cx="48463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709928"/>
            <a:ext cx="502920" cy="219456"/>
          </a:xfrm>
          <a:prstGeom prst="roundRect">
            <a:avLst>
              <a:gd name="adj" fmla="val 25000"/>
            </a:avLst>
          </a:prstGeom>
          <a:solidFill>
            <a:srgbClr val="F43F5E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7099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932688" y="1682496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Liquidity Risk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32688" y="1847088"/>
            <a:ext cx="416966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book wall removal + spread widening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048256"/>
            <a:ext cx="4846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112264"/>
            <a:ext cx="502920" cy="219456"/>
          </a:xfrm>
          <a:prstGeom prst="roundRect">
            <a:avLst>
              <a:gd name="adj" fmla="val 25000"/>
            </a:avLst>
          </a:prstGeom>
          <a:solidFill>
            <a:srgbClr val="F43F5E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1122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32688" y="208483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Whale / On-Chain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32688" y="2249424"/>
            <a:ext cx="416966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BTC transfers + exchange inflows clustering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2450592"/>
            <a:ext cx="48463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514600"/>
            <a:ext cx="502920" cy="219456"/>
          </a:xfrm>
          <a:prstGeom prst="roundRect">
            <a:avLst>
              <a:gd name="adj" fmla="val 25000"/>
            </a:avLst>
          </a:prstGeom>
          <a:solidFill>
            <a:srgbClr val="F43F5E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5146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932688" y="248716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Stablecoin Signals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32688" y="2651760"/>
            <a:ext cx="416966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spike + supply drain + depeg events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2852928"/>
            <a:ext cx="4846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2916936"/>
            <a:ext cx="502920" cy="219456"/>
          </a:xfrm>
          <a:prstGeom prst="roundRect">
            <a:avLst>
              <a:gd name="adj" fmla="val 25000"/>
            </a:avLst>
          </a:prstGeom>
          <a:solidFill>
            <a:srgbClr val="F43F5E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29169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932688" y="288950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Technical Breakdown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32688" y="3054096"/>
            <a:ext cx="416966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below all MAs + RSI &lt; 25 + BB extreme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65760" y="3255264"/>
            <a:ext cx="48463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3319272"/>
            <a:ext cx="502920" cy="219456"/>
          </a:xfrm>
          <a:prstGeom prst="roundRect">
            <a:avLst>
              <a:gd name="adj" fmla="val 25000"/>
            </a:avLst>
          </a:prstGeom>
          <a:solidFill>
            <a:srgbClr val="F43F5E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33192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932688" y="32918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Sentiment Extremes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32688" y="3456432"/>
            <a:ext cx="416966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&amp; Greed &lt; 15 (extreme fear) + social panic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5760" y="3657600"/>
            <a:ext cx="4846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3721608"/>
            <a:ext cx="502920" cy="219456"/>
          </a:xfrm>
          <a:prstGeom prst="roundRect">
            <a:avLst>
              <a:gd name="adj" fmla="val 25000"/>
            </a:avLst>
          </a:prstGeom>
          <a:solidFill>
            <a:srgbClr val="F43F5E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372160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32688" y="3694176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Macro Risk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32688" y="3858768"/>
            <a:ext cx="416966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DXY surge + yield spike + SPX crash co-movement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40680" y="95097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4-Tier Response Protocol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40680" y="1243584"/>
            <a:ext cx="3291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40680" y="1243584"/>
            <a:ext cx="54864" cy="6766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18120" y="1316736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7818120" y="131673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0–4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596128" y="131673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 · NORMAL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596128" y="1609344"/>
            <a:ext cx="3035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trading. All models active. No restrictions.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440680" y="2011680"/>
            <a:ext cx="3291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40680" y="2011680"/>
            <a:ext cx="54864" cy="67665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818120" y="2084832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0EA5E9"/>
          </a:solidFill>
          <a:ln/>
        </p:spPr>
      </p:sp>
      <p:sp>
        <p:nvSpPr>
          <p:cNvPr id="52" name="Text 50"/>
          <p:cNvSpPr/>
          <p:nvPr/>
        </p:nvSpPr>
        <p:spPr>
          <a:xfrm>
            <a:off x="7818120" y="208483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4–5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596128" y="208483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· WATCHFUL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596128" y="2377440"/>
            <a:ext cx="3035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elevated. Size reduced 50%. Stops tightened.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440680" y="2779776"/>
            <a:ext cx="3291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40680" y="2779776"/>
            <a:ext cx="54864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818120" y="2852928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F59E0B"/>
          </a:solidFill>
          <a:ln/>
        </p:spPr>
      </p:sp>
      <p:sp>
        <p:nvSpPr>
          <p:cNvPr id="58" name="Text 56"/>
          <p:cNvSpPr/>
          <p:nvPr/>
        </p:nvSpPr>
        <p:spPr>
          <a:xfrm>
            <a:off x="7818120" y="285292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5–7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596128" y="285292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· DEFENSIVE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596128" y="3145536"/>
            <a:ext cx="3035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longs. Close partial positions. Exits only mode.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440680" y="3547872"/>
            <a:ext cx="3291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440680" y="3547872"/>
            <a:ext cx="54864" cy="67665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818120" y="3621024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F43F5E"/>
          </a:solidFill>
          <a:ln/>
        </p:spPr>
      </p:sp>
      <p:sp>
        <p:nvSpPr>
          <p:cNvPr id="64" name="Text 62"/>
          <p:cNvSpPr/>
          <p:nvPr/>
        </p:nvSpPr>
        <p:spPr>
          <a:xfrm>
            <a:off x="7818120" y="362102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7+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5596128" y="362102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· EMERGENCY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596128" y="3913632"/>
            <a:ext cx="3035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trading halted. Close ALL open positions immediately. Critical alert sent.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65760" y="4279392"/>
            <a:ext cx="8412480" cy="27432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2920" y="4279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CrashDefense = Gate 7 of Risk Gate. Tier ≤ 1 required for any new trade. CrashDetector also injects position_size_multiplier into Risk Gate: DEFENSIVE 0.65× · HIGH_ALERT 0.30× · EMERGENCY 0.10×.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4320" y="452628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TRACK 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crash defense system is the last firewall. Even a perfect confluence score with 7/7 gates cleared will be blocked if the crash score has elevated. This saved capital during multiple volatile periods in testing. The 4-tier response is graduated: we don't go from full trading to emergency in one step.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Trade Lifecycle: Entry to Analytics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35024"/>
            <a:ext cx="84124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63040"/>
            <a:ext cx="859536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63040"/>
            <a:ext cx="859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2249424"/>
            <a:ext cx="859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fires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1h close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179576" y="1764792"/>
            <a:ext cx="82296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61872" y="1463040"/>
            <a:ext cx="859536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1872" y="1463040"/>
            <a:ext cx="859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261872" y="2249424"/>
            <a:ext cx="859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Bybit 300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OHLCV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121408" y="1764792"/>
            <a:ext cx="82296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03704" y="1463040"/>
            <a:ext cx="859536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03704" y="1463040"/>
            <a:ext cx="859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203704" y="2249424"/>
            <a:ext cx="859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HMM+rules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12-state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063240" y="1764792"/>
            <a:ext cx="82296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45536" y="1463040"/>
            <a:ext cx="859536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45536" y="1463040"/>
            <a:ext cx="859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145536" y="2249424"/>
            <a:ext cx="859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005072" y="1764792"/>
            <a:ext cx="82296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87368" y="1463040"/>
            <a:ext cx="859536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87368" y="1463040"/>
            <a:ext cx="859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087368" y="2249424"/>
            <a:ext cx="859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946904" y="1764792"/>
            <a:ext cx="82296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0" y="1463040"/>
            <a:ext cx="859536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1463040"/>
            <a:ext cx="859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(7)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0" y="2249424"/>
            <a:ext cx="859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checks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pass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888736" y="1764792"/>
            <a:ext cx="82296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71032" y="1463040"/>
            <a:ext cx="859536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71032" y="1463040"/>
            <a:ext cx="859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Fill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971032" y="2249424"/>
            <a:ext cx="859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Quarter-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Kelly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830568" y="1764792"/>
            <a:ext cx="82296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12864" y="1463040"/>
            <a:ext cx="859536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12864" y="1463040"/>
            <a:ext cx="859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Exit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912864" y="2249424"/>
            <a:ext cx="859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Stop/target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7772400" y="1764792"/>
            <a:ext cx="82296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54696" y="1463040"/>
            <a:ext cx="859536" cy="7132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54696" y="1463040"/>
            <a:ext cx="859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+ L1/L2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854696" y="2249424"/>
            <a:ext cx="859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+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20040" y="2688336"/>
            <a:ext cx="8485632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2615184"/>
            <a:ext cx="18288" cy="12801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" y="274320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t=0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664208" y="2615184"/>
            <a:ext cx="18288" cy="12801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08176" y="274320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t+2s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310128" y="2615184"/>
            <a:ext cx="18288" cy="12801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54096" y="274320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t+4s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626864" y="2615184"/>
            <a:ext cx="18288" cy="12801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70832" y="274320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t+5s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943600" y="2615184"/>
            <a:ext cx="18288" cy="12801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87568" y="274320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t+6s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7205472" y="2615184"/>
            <a:ext cx="18288" cy="12801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49440" y="274320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8046720" y="2615184"/>
            <a:ext cx="18288" cy="12801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790688" y="274320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t+N+1s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65760" y="314553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Invariants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65760" y="3419856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on_tick() — main Qt thread ONLY, never from QThread/asyncio/ThreadPoolExecutor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65760" y="3666744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event_bus.publish() with GUI subscribers — never from background threads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65760" y="391363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entry_size_usdt — immutable after position open; only size_usdt changes on partials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65760" y="416052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_worker = None in _on_scan_complete() AND _on_scan_error() — prevents stuck workers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452628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TRACK 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trade follows exactly 9 steps in strict order. Steps 1–6 complete in about 6 seconds from candle close. The critical invariants at the bottom are non-negotiable — they prevent race conditions in the Qt GUI. The scan worker must be set to None in BOTH the complete and error callbacks, not just one.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Management: Symbol Weights &amp; Heat Limits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3268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Allocation Weights (STATIC mode)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4358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51560" y="1344168"/>
            <a:ext cx="411480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1243584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1.3×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71907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51560" y="1819656"/>
            <a:ext cx="3794760" cy="2011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71907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1.2×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1945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51560" y="2295144"/>
            <a:ext cx="3163824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61104" y="2194560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67004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2770632"/>
            <a:ext cx="253288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0168" y="2670048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0.8×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14553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51560" y="3246120"/>
            <a:ext cx="253288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0168" y="3145536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0.8×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69417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Symbol weights affect candidate RANKING only (adjusted_score = base_score × weight). They do NOT affect position size, stop distance, or target. Never use adjusted_score for sizing.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623560" y="93268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Heat &amp; Concentration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23560" y="1243584"/>
            <a:ext cx="3108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23560" y="1243584"/>
            <a:ext cx="54864" cy="6217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87568" y="1335024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473952" y="1335024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portfolio heat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73952" y="1591056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open exposure cap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623560" y="1956816"/>
            <a:ext cx="3108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23560" y="1956816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87568" y="2048256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473952" y="2048256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per-trade size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73952" y="2304288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max_capital_pct hard ceiling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623560" y="2670048"/>
            <a:ext cx="3108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23560" y="2670048"/>
            <a:ext cx="54864" cy="6217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87568" y="2761488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473952" y="2761488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per trade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73952" y="3017520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conservative sizing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623560" y="3383280"/>
            <a:ext cx="3108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23560" y="3383280"/>
            <a:ext cx="54864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87568" y="3474720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473952" y="3474720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concurrent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73952" y="3730752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by 6% heat + 4% cap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623560" y="4169664"/>
            <a:ext cx="310896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87568" y="4169664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CorrelationDampener: reduces combined score when multiple highly-correlated symbols fire simultaneously — prevents hidden concentration risk.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52628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TRACK 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management works on two dimensions: symbol weights rank candidates for prioritization (not sizing), and heat limits cap total exposure. SOL gets the highest weight because backtests showed the strongest R-multiples. The correlation dampener is the hidden safety valve — it prevents 3 correlated longs from stacking invisibly.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 Framework &amp; RAG Thresholds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35024"/>
            <a:ext cx="84124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44752"/>
            <a:ext cx="4069080" cy="1188720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44752"/>
            <a:ext cx="406908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361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DemoPerformanceEvaluator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8105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 automated checks per review cycle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 · PF · avg R · max DD · Sharpe per model+symbol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221284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 advancement recommendation logic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241401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Fires advisory (&lt;50 trades) or investigate (50+)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54880" y="1444752"/>
            <a:ext cx="4069080" cy="1188720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444752"/>
            <a:ext cx="40690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5361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EdgeEvaluator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18105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Statistical edge: t-test, p-value on R-multiples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46320" y="20116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Backtest vs live drift detection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46320" y="221284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Distribution of R-multiples per model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46320" y="241401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Generates advisory / investigate flags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2816352"/>
            <a:ext cx="4069080" cy="1188720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816352"/>
            <a:ext cx="40690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9077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SystemReadinessEvaluator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31821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Pre-session health check (193 intelligence tests)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33832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connectivity + DB schema validation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358444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Regime classifier warmup confirmation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8640" y="378561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Blocks session if critical checks fail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0" y="2816352"/>
            <a:ext cx="4069080" cy="1188720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816352"/>
            <a:ext cx="40690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9077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ScaleManager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0" y="31821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 1→2 advancement criteria check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46320" y="33832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MANUAL operator approval (no auto-advance)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46320" y="358444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 block: PF&lt;1.0 AND WR&lt;40% over 30+ trades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46320" y="378561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Intermediate block: PF&lt;1.2 AND WR&lt;45% → logger.critical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4059936"/>
            <a:ext cx="8321040" cy="402336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059936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→ 2 Gate (50+ trades):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 ≥ 45%  ·  PF ≥ 1.10  ·  Avg R ≥ 0.10  ·  Max DD &lt; 10R  ·  Manual approval required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52628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TRACK 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runs continuously. DemoPerformanceEvaluator checks 20 metrics after every scan cycle. EdgeEvaluator validates the statistical edge hasn't degraded. ScaleManager gates phase advancement — it recommends but never auto-advances. This prevents over-optimization on live data. Phase advancement is always a human decision.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F43F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STATUS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 Calibration Project &amp; Current System State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3268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CPS: Crash Precursor Score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0700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trained to predict 5–15% crashes 1h in advance.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features: funding_z · oi_change_z · breadth_w · liq_z · cascade_z · cda_proxy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CPS &gt; calibrated threshold over 12×5m bars, blocks 1h entries.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141732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202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28800" y="1920240"/>
            <a:ext cx="132588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19202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v0.5 (Before)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1920240"/>
            <a:ext cx="173736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(After)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212848"/>
            <a:ext cx="45720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21284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874520" y="221284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46120" y="22128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0.007 ✓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2468880"/>
            <a:ext cx="4572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46888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(calibration)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74520" y="246888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46120" y="24688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 ✓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2724912"/>
            <a:ext cx="45720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724912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rate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874520" y="272491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46120" y="272491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3–5% ✓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2980944"/>
            <a:ext cx="4572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980944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1B verdict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74520" y="2980944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(bug)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46120" y="298094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(correct)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5760" y="3236976"/>
            <a:ext cx="45720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23697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 (lookback fix)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874520" y="323697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(bug)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246120" y="32369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v2 run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65760" y="3694176"/>
            <a:ext cx="4114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python scripts/cps_calibration_v2.py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5 symbols + EVI lookback fix — expect PROCEED on ≥2 symbols)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09160" y="93268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 State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09160" y="1243584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1243584"/>
            <a:ext cx="54864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1280160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mode: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28032" y="1444752"/>
            <a:ext cx="3794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(demo)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1700784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1700784"/>
            <a:ext cx="54864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1737360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models: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28032" y="1901952"/>
            <a:ext cx="3794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TrendModel + MomentumBreakout + FundingRate + OrderBook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09160" y="2157984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09160" y="2157984"/>
            <a:ext cx="54864" cy="38404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8032" y="2194560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models: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828032" y="2359152"/>
            <a:ext cx="3794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VWAP + MeanReversion + LiquiditySweep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09160" y="2615184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09160" y="2615184"/>
            <a:ext cx="54864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28032" y="2651760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per trade: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828032" y="2816352"/>
            <a:ext cx="3794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 — Phase 1 conservative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09160" y="3072384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09160" y="3072384"/>
            <a:ext cx="54864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28032" y="3108960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data: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828032" y="3273552"/>
            <a:ext cx="3794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symbols × 5 TFs × 4 years ✓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709160" y="3529584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09160" y="3529584"/>
            <a:ext cx="54864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28032" y="3566160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suite: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828032" y="3730752"/>
            <a:ext cx="3794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1,611 tests — 0 failures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09160" y="3986784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09160" y="3986784"/>
            <a:ext cx="54864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28032" y="4023360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ensemble: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828032" y="4187952"/>
            <a:ext cx="3794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until sufficient trade history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452628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TRACK 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 v2 has the right calibration (Brier 0.007, fire rate 3–5%) but needs validation with all 5 symbols and the 12-bar EVI lookback fix. Once EVI confirms positive net PnL improvement on 2+ symbols, Phase 1B flips to PROCEED and CPS becomes active in live production. Expected result: ~30–50% of high-crash-risk 1h entries blocked.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37744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37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What's Next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335024"/>
            <a:ext cx="84124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44752"/>
            <a:ext cx="8229600" cy="402336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1536192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" y="15361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508760" y="1444752"/>
            <a:ext cx="7086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 v2 EVI validation — run python scripts/cps_calibration_v2.py with all 5 symbols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229600" cy="402336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" y="2011680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" y="20116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1B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508760" y="1920240"/>
            <a:ext cx="7086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CPS as active gate — blocks 30–50% of 1h entries in elevated-risk windows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8229600" cy="402336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" y="2487168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" y="24871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Trades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508760" y="2395728"/>
            <a:ext cx="7086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demo assessment: WR/PF/AvgR/DD evaluated against Phase 1 baselines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871216"/>
            <a:ext cx="8229600" cy="402336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" y="2962656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" y="29626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1→2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508760" y="2871216"/>
            <a:ext cx="7086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ScaleManager recommends · operator approves · risk_pct_per_trade bumped to 1.0%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346704"/>
            <a:ext cx="8229600" cy="402336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" y="3438144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" y="34381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508760" y="3346704"/>
            <a:ext cx="7086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signal pipeline calibration: all models, confluence thresholds, entry/exit params across 5 symbols × 4 years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822192"/>
            <a:ext cx="8229600" cy="402336"/>
          </a:xfrm>
          <a:prstGeom prst="rect">
            <a:avLst/>
          </a:prstGeom>
          <a:solidFill>
            <a:srgbClr val="0D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2064" y="3913632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" y="39136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2+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508760" y="3822192"/>
            <a:ext cx="7086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capital (small) · RL ensemble activation (needs 200+ trade history) · advanced model variants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279392"/>
            <a:ext cx="9144000" cy="868680"/>
          </a:xfrm>
          <a:prstGeom prst="rect">
            <a:avLst/>
          </a:prstGeom>
          <a:solidFill>
            <a:srgbClr val="080E1C"/>
          </a:solidFill>
          <a:ln w="12700">
            <a:solidFill>
              <a:srgbClr val="080E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279392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NexusTrader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production-grade autonomous trading system: 8-layer signal pipeline, 23 intelligence agents, 12 market regime states, 5 signal models with online adaptive weighting, and a 7-component crash defense protocol. It runs on real Bybit market data in paper trading mode, accumulating the 50+ trade history needed to validate Phase 1 baselines before any live capital is deployed.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NexusTrader Architecture</dc:title>
  <dc:subject>PptxGenJS Presentation</dc:subject>
  <dc:creator>PptxGenJS</dc:creator>
  <cp:lastModifiedBy>PptxGenJS</cp:lastModifiedBy>
  <cp:revision>1</cp:revision>
  <dcterms:created xsi:type="dcterms:W3CDTF">2026-03-25T13:37:12Z</dcterms:created>
  <dcterms:modified xsi:type="dcterms:W3CDTF">2026-03-25T13:37:12Z</dcterms:modified>
</cp:coreProperties>
</file>